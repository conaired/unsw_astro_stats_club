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"/>
  </p:notesMasterIdLst>
  <p:sldIdLst>
    <p:sldId id="256" r:id="rId2"/>
  </p:sldIdLst>
  <p:sldSz cx="7559675" cy="323992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A994E"/>
    <a:srgbClr val="F2E8CF"/>
    <a:srgbClr val="BC4749"/>
    <a:srgbClr val="A7C9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57" autoAdjust="0"/>
    <p:restoredTop sz="94660"/>
  </p:normalViewPr>
  <p:slideViewPr>
    <p:cSldViewPr snapToGrid="0">
      <p:cViewPr>
        <p:scale>
          <a:sx n="50" d="100"/>
          <a:sy n="50" d="100"/>
        </p:scale>
        <p:origin x="375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FD1F46-691D-46D1-A087-A392E4F4480C}" type="datetimeFigureOut">
              <a:rPr lang="en-AU" smtClean="0"/>
              <a:t>13/04/2026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68638" y="1143000"/>
            <a:ext cx="720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EDCD1D-EF9C-4B87-B0C3-472AB7D6F1C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0427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068638" y="1143000"/>
            <a:ext cx="7207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EDCD1D-EF9C-4B87-B0C3-472AB7D6F1C1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63368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5302386"/>
            <a:ext cx="6425724" cy="11279752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17017128"/>
            <a:ext cx="5669756" cy="7822326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6575A-9E44-41E2-A200-5639B8DE965D}" type="datetimeFigureOut">
              <a:rPr lang="en-AU" smtClean="0"/>
              <a:t>13/04/2026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866FE-2EF5-44C8-B279-35AD7ADDC1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02963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6575A-9E44-41E2-A200-5639B8DE965D}" type="datetimeFigureOut">
              <a:rPr lang="en-AU" smtClean="0"/>
              <a:t>13/04/2026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866FE-2EF5-44C8-B279-35AD7ADDC1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8109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8077332"/>
            <a:ext cx="6520220" cy="13477201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21682033"/>
            <a:ext cx="6520220" cy="7087342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6575A-9E44-41E2-A200-5639B8DE965D}" type="datetimeFigureOut">
              <a:rPr lang="en-AU" smtClean="0"/>
              <a:t>13/04/2026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866FE-2EF5-44C8-B279-35AD7ADDC1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3166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8624810"/>
            <a:ext cx="3212862" cy="20557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8624810"/>
            <a:ext cx="3212862" cy="20557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6575A-9E44-41E2-A200-5639B8DE965D}" type="datetimeFigureOut">
              <a:rPr lang="en-AU" smtClean="0"/>
              <a:t>13/04/2026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866FE-2EF5-44C8-B279-35AD7ADDC1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7879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1724969"/>
            <a:ext cx="6520220" cy="6262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7942328"/>
            <a:ext cx="3198096" cy="389241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11834740"/>
            <a:ext cx="3198096" cy="174071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7942328"/>
            <a:ext cx="3213847" cy="389241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11834740"/>
            <a:ext cx="3213847" cy="174071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6575A-9E44-41E2-A200-5639B8DE965D}" type="datetimeFigureOut">
              <a:rPr lang="en-AU" smtClean="0"/>
              <a:t>13/04/2026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866FE-2EF5-44C8-B279-35AD7ADDC1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834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6575A-9E44-41E2-A200-5639B8DE965D}" type="datetimeFigureOut">
              <a:rPr lang="en-AU" smtClean="0"/>
              <a:t>13/04/2026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866FE-2EF5-44C8-B279-35AD7ADDC1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115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6575A-9E44-41E2-A200-5639B8DE965D}" type="datetimeFigureOut">
              <a:rPr lang="en-AU" smtClean="0"/>
              <a:t>13/04/2026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866FE-2EF5-44C8-B279-35AD7ADDC1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3031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2159952"/>
            <a:ext cx="2438192" cy="7559834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4664905"/>
            <a:ext cx="3827085" cy="23024494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9719786"/>
            <a:ext cx="2438192" cy="18007107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6575A-9E44-41E2-A200-5639B8DE965D}" type="datetimeFigureOut">
              <a:rPr lang="en-AU" smtClean="0"/>
              <a:t>13/04/2026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866FE-2EF5-44C8-B279-35AD7ADDC1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0795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2159952"/>
            <a:ext cx="2438192" cy="7559834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4664905"/>
            <a:ext cx="3827085" cy="23024494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9719786"/>
            <a:ext cx="2438192" cy="18007107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6575A-9E44-41E2-A200-5639B8DE965D}" type="datetimeFigureOut">
              <a:rPr lang="en-AU" smtClean="0"/>
              <a:t>13/04/2026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866FE-2EF5-44C8-B279-35AD7ADDC1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9912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6575A-9E44-41E2-A200-5639B8DE965D}" type="datetimeFigureOut">
              <a:rPr lang="en-AU" smtClean="0"/>
              <a:t>13/04/2026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866FE-2EF5-44C8-B279-35AD7ADDC1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8064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1724962"/>
            <a:ext cx="1630055" cy="2745689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1724962"/>
            <a:ext cx="4795669" cy="274568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6575A-9E44-41E2-A200-5639B8DE965D}" type="datetimeFigureOut">
              <a:rPr lang="en-AU" smtClean="0"/>
              <a:t>13/04/2026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866FE-2EF5-44C8-B279-35AD7ADDC1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660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1724969"/>
            <a:ext cx="6520220" cy="6262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8624810"/>
            <a:ext cx="6520220" cy="20557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30029347"/>
            <a:ext cx="1700927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86575A-9E44-41E2-A200-5639B8DE965D}" type="datetimeFigureOut">
              <a:rPr lang="en-AU" smtClean="0"/>
              <a:t>13/04/2026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30029347"/>
            <a:ext cx="2551390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30029347"/>
            <a:ext cx="1700927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3866FE-2EF5-44C8-B279-35AD7ADDC1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3628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C7893C4-9A79-EFB3-0FB9-1601B97EA387}"/>
              </a:ext>
            </a:extLst>
          </p:cNvPr>
          <p:cNvGrpSpPr/>
          <p:nvPr/>
        </p:nvGrpSpPr>
        <p:grpSpPr>
          <a:xfrm>
            <a:off x="954376" y="319374"/>
            <a:ext cx="5650922" cy="1249580"/>
            <a:chOff x="954375" y="230722"/>
            <a:chExt cx="5650922" cy="107190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63F05A3-D8E7-AAA1-E3F0-E3A0AF94F4FE}"/>
                </a:ext>
              </a:extLst>
            </p:cNvPr>
            <p:cNvSpPr txBox="1"/>
            <p:nvPr/>
          </p:nvSpPr>
          <p:spPr>
            <a:xfrm>
              <a:off x="954375" y="230722"/>
              <a:ext cx="5650922" cy="5016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b="1" dirty="0"/>
                <a:t>Likelihood-Free Inference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3A522C6-D288-B4F9-B432-25E688900DCF}"/>
                </a:ext>
              </a:extLst>
            </p:cNvPr>
            <p:cNvSpPr txBox="1"/>
            <p:nvPr/>
          </p:nvSpPr>
          <p:spPr>
            <a:xfrm>
              <a:off x="954375" y="801000"/>
              <a:ext cx="5650922" cy="5016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b="1" dirty="0"/>
                <a:t>Simulation-Based Inference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7A029D1-F99D-737B-FC41-F819C5677DD4}"/>
                </a:ext>
              </a:extLst>
            </p:cNvPr>
            <p:cNvSpPr txBox="1"/>
            <p:nvPr/>
          </p:nvSpPr>
          <p:spPr>
            <a:xfrm>
              <a:off x="3252298" y="630831"/>
              <a:ext cx="1055077" cy="3168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i="1" dirty="0"/>
                <a:t>A.K.A</a:t>
              </a:r>
              <a:endParaRPr lang="en-AU" i="1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FF052D5E-EE9C-5BCC-CD1F-2AD49B195639}"/>
                  </a:ext>
                </a:extLst>
              </p:cNvPr>
              <p:cNvSpPr/>
              <p:nvPr/>
            </p:nvSpPr>
            <p:spPr>
              <a:xfrm>
                <a:off x="2218530" y="1557622"/>
                <a:ext cx="3028950" cy="1212656"/>
              </a:xfrm>
              <a:prstGeom prst="roundRect">
                <a:avLst/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i="1" dirty="0">
                  <a:latin typeface="Cambria Math" panose="02040503050406030204" pitchFamily="18" charset="0"/>
                </a:endParaRPr>
              </a:p>
              <a:p>
                <a:pPr algn="ctr">
                  <a:spcAft>
                    <a:spcPts val="1200"/>
                  </a:spcAft>
                </a:pPr>
                <a:r>
                  <a:rPr lang="en-GB" i="1" dirty="0">
                    <a:latin typeface="Cambria Math" panose="02040503050406030204" pitchFamily="18" charset="0"/>
                  </a:rPr>
                  <a:t>Bayes Theorem</a:t>
                </a:r>
              </a:p>
              <a:p>
                <a:pPr algn="ctr"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i="1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GB" i="1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GB" i="1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) = 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GB" i="1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GB" i="1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m:rPr>
                              <m:sty m:val="p"/>
                            </m:rPr>
                            <a:rPr lang="en-GB" i="1">
                              <a:latin typeface="Cambria Math" panose="02040503050406030204" pitchFamily="18" charset="0"/>
                            </a:rPr>
                            <m:t>θ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GB" i="1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GB" i="1">
                              <a:latin typeface="Cambria Math" panose="02040503050406030204" pitchFamily="18" charset="0"/>
                            </a:rPr>
                            <m:t>θ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GB" i="1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GB" i="1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AU" dirty="0"/>
              </a:p>
              <a:p>
                <a:pPr algn="ctr"/>
                <a:endParaRPr lang="en-AU" dirty="0"/>
              </a:p>
            </p:txBody>
          </p:sp>
        </mc:Choice>
        <mc:Fallback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FF052D5E-EE9C-5BCC-CD1F-2AD49B1956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8530" y="1557622"/>
                <a:ext cx="3028950" cy="1212656"/>
              </a:xfrm>
              <a:prstGeom prst="roundRect">
                <a:avLst/>
              </a:prstGeom>
              <a:blipFill>
                <a:blip r:embed="rId3"/>
                <a:stretch>
                  <a:fillRect t="-398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ACDAE522-ACF1-C7C0-6D74-7066A07A3EBD}"/>
                  </a:ext>
                </a:extLst>
              </p:cNvPr>
              <p:cNvSpPr/>
              <p:nvPr/>
            </p:nvSpPr>
            <p:spPr>
              <a:xfrm>
                <a:off x="2218530" y="2893648"/>
                <a:ext cx="3028950" cy="825497"/>
              </a:xfrm>
              <a:prstGeom prst="roundRect">
                <a:avLst/>
              </a:prstGeom>
              <a:solidFill>
                <a:srgbClr val="F2E8C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ysClr val="windowText" lastClr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Can you write your likelihood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i="1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</m:t>
                    </m:r>
                    <m:r>
                      <a:rPr lang="en-GB" i="1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GB" i="1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n-GB" i="1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GB" i="1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GB" i="1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dirty="0">
                    <a:solidFill>
                      <a:sysClr val="windowText" lastClr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?</a:t>
                </a:r>
              </a:p>
            </p:txBody>
          </p:sp>
        </mc:Choice>
        <mc:Fallback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ACDAE522-ACF1-C7C0-6D74-7066A07A3E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8530" y="2893648"/>
                <a:ext cx="3028950" cy="825497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AA5F72B2-AEC0-9F2E-E89A-F236FA2C0A80}"/>
              </a:ext>
            </a:extLst>
          </p:cNvPr>
          <p:cNvSpPr txBox="1"/>
          <p:nvPr/>
        </p:nvSpPr>
        <p:spPr>
          <a:xfrm>
            <a:off x="2042223" y="3851976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Yes</a:t>
            </a:r>
            <a:endParaRPr lang="en-A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4AED47-A5EA-A42C-1DFB-0DB929DD2CD1}"/>
              </a:ext>
            </a:extLst>
          </p:cNvPr>
          <p:cNvSpPr txBox="1"/>
          <p:nvPr/>
        </p:nvSpPr>
        <p:spPr>
          <a:xfrm>
            <a:off x="4632323" y="3851183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No</a:t>
            </a:r>
            <a:endParaRPr lang="en-AU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D682B9B-499A-44B3-987C-314378FC2CEC}"/>
              </a:ext>
            </a:extLst>
          </p:cNvPr>
          <p:cNvSpPr/>
          <p:nvPr/>
        </p:nvSpPr>
        <p:spPr>
          <a:xfrm>
            <a:off x="907546" y="4455746"/>
            <a:ext cx="1939925" cy="825497"/>
          </a:xfrm>
          <a:prstGeom prst="roundRect">
            <a:avLst/>
          </a:prstGeom>
          <a:solidFill>
            <a:srgbClr val="BC47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Use MCMC or Nested Sampling</a:t>
            </a:r>
            <a:endParaRPr lang="en-AU" sz="1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A5DB2DC6-3CF0-3532-3B6E-64CB5445B2D5}"/>
                  </a:ext>
                </a:extLst>
              </p:cNvPr>
              <p:cNvSpPr/>
              <p:nvPr/>
            </p:nvSpPr>
            <p:spPr>
              <a:xfrm>
                <a:off x="3940970" y="4471139"/>
                <a:ext cx="3074986" cy="810105"/>
              </a:xfrm>
              <a:prstGeom prst="roundRect">
                <a:avLst/>
              </a:prstGeom>
              <a:solidFill>
                <a:srgbClr val="F2E8C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600" dirty="0">
                    <a:solidFill>
                      <a:sysClr val="windowText" lastClr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Can you simulate </a:t>
                </a:r>
                <a14:m>
                  <m:oMath xmlns:m="http://schemas.openxmlformats.org/officeDocument/2006/math">
                    <m:r>
                      <a:rPr lang="en-GB" sz="1600" i="1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GB" sz="1600" i="1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GB" sz="1600" i="1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GB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en-GB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GB" sz="1600" i="1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?</m:t>
                    </m:r>
                  </m:oMath>
                </a14:m>
                <a:endParaRPr lang="en-GB" sz="1600" dirty="0">
                  <a:solidFill>
                    <a:sysClr val="windowText" lastClr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:r>
                  <a:rPr lang="en-GB" sz="1400" i="1" dirty="0">
                    <a:solidFill>
                      <a:sysClr val="windowText" lastClr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i.e. run a forward model</a:t>
                </a:r>
              </a:p>
            </p:txBody>
          </p:sp>
        </mc:Choice>
        <mc:Fallback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A5DB2DC6-3CF0-3532-3B6E-64CB5445B2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0970" y="4471139"/>
                <a:ext cx="3074986" cy="810105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BBB35E4-3F51-FB87-4930-B188F167B98E}"/>
              </a:ext>
            </a:extLst>
          </p:cNvPr>
          <p:cNvCxnSpPr>
            <a:cxnSpLocks/>
            <a:stCxn id="11" idx="2"/>
            <a:endCxn id="21" idx="0"/>
          </p:cNvCxnSpPr>
          <p:nvPr/>
        </p:nvCxnSpPr>
        <p:spPr>
          <a:xfrm>
            <a:off x="3733005" y="3719145"/>
            <a:ext cx="1745458" cy="7519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392356E-7F8E-0665-7DA6-CA754E979047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1987547" y="3719144"/>
            <a:ext cx="1745458" cy="7366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42E3BB7-1747-5E05-545A-35DF97B5C9EC}"/>
              </a:ext>
            </a:extLst>
          </p:cNvPr>
          <p:cNvCxnSpPr>
            <a:cxnSpLocks/>
            <a:endCxn id="32" idx="0"/>
          </p:cNvCxnSpPr>
          <p:nvPr/>
        </p:nvCxnSpPr>
        <p:spPr>
          <a:xfrm flipH="1">
            <a:off x="3779837" y="5296639"/>
            <a:ext cx="1725214" cy="12578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449117C-4762-DC22-3991-351FC1083D06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5560216" y="5296636"/>
            <a:ext cx="485778" cy="3973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A2D1D6C-8D77-DCF0-6F28-3B44B39B6061}"/>
              </a:ext>
            </a:extLst>
          </p:cNvPr>
          <p:cNvSpPr/>
          <p:nvPr/>
        </p:nvSpPr>
        <p:spPr>
          <a:xfrm>
            <a:off x="5076034" y="5693994"/>
            <a:ext cx="1939925" cy="672137"/>
          </a:xfrm>
          <a:prstGeom prst="roundRect">
            <a:avLst/>
          </a:prstGeom>
          <a:solidFill>
            <a:srgbClr val="BC47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Entirely different problem</a:t>
            </a:r>
            <a:endParaRPr lang="en-AU" sz="1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B74EFD-0325-5416-CC7D-EE71E2529F49}"/>
              </a:ext>
            </a:extLst>
          </p:cNvPr>
          <p:cNvSpPr txBox="1"/>
          <p:nvPr/>
        </p:nvSpPr>
        <p:spPr>
          <a:xfrm>
            <a:off x="5828504" y="5267580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No</a:t>
            </a:r>
            <a:endParaRPr lang="en-AU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9E22AB-A4C3-97AF-6750-D6827FAAA19D}"/>
              </a:ext>
            </a:extLst>
          </p:cNvPr>
          <p:cNvSpPr txBox="1"/>
          <p:nvPr/>
        </p:nvSpPr>
        <p:spPr>
          <a:xfrm>
            <a:off x="4326433" y="5509326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Yes</a:t>
            </a:r>
            <a:endParaRPr lang="en-AU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5FE6042-9507-4197-06F9-22FDE51F3B26}"/>
              </a:ext>
            </a:extLst>
          </p:cNvPr>
          <p:cNvSpPr/>
          <p:nvPr/>
        </p:nvSpPr>
        <p:spPr>
          <a:xfrm>
            <a:off x="1731172" y="6554514"/>
            <a:ext cx="4097335" cy="466629"/>
          </a:xfrm>
          <a:prstGeom prst="roundRect">
            <a:avLst/>
          </a:prstGeom>
          <a:solidFill>
            <a:srgbClr val="A7C9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</a:pPr>
            <a:endParaRPr lang="en-GB" i="1" dirty="0">
              <a:latin typeface="Cambria Math" panose="02040503050406030204" pitchFamily="18" charset="0"/>
            </a:endParaRPr>
          </a:p>
          <a:p>
            <a:pPr algn="ctr">
              <a:spcAft>
                <a:spcPts val="1200"/>
              </a:spcAft>
            </a:pPr>
            <a:r>
              <a:rPr lang="en-GB" dirty="0">
                <a:solidFill>
                  <a:schemeClr val="tx1"/>
                </a:solidFill>
                <a:latin typeface="Cambria Math" panose="02040503050406030204" pitchFamily="18" charset="0"/>
              </a:rPr>
              <a:t>Use Simulation-Based Inference</a:t>
            </a:r>
            <a:endParaRPr lang="en-AU" dirty="0">
              <a:solidFill>
                <a:schemeClr val="tx1"/>
              </a:solidFill>
            </a:endParaRPr>
          </a:p>
          <a:p>
            <a:pPr algn="ctr"/>
            <a:endParaRPr lang="en-AU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0BF2852-5C8F-A66C-3851-9301C4F7FF3D}"/>
              </a:ext>
            </a:extLst>
          </p:cNvPr>
          <p:cNvCxnSpPr>
            <a:cxnSpLocks/>
            <a:stCxn id="32" idx="2"/>
          </p:cNvCxnSpPr>
          <p:nvPr/>
        </p:nvCxnSpPr>
        <p:spPr>
          <a:xfrm>
            <a:off x="3779837" y="7021140"/>
            <a:ext cx="0" cy="3588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6DEDA004-D1A7-777A-6C28-3BED5A22D40E}"/>
              </a:ext>
            </a:extLst>
          </p:cNvPr>
          <p:cNvSpPr/>
          <p:nvPr/>
        </p:nvSpPr>
        <p:spPr>
          <a:xfrm>
            <a:off x="2306619" y="7364617"/>
            <a:ext cx="2955636" cy="597417"/>
          </a:xfrm>
          <a:prstGeom prst="roundRect">
            <a:avLst/>
          </a:prstGeom>
          <a:solidFill>
            <a:srgbClr val="F2E8C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</a:pPr>
            <a:endParaRPr lang="en-GB" i="1" dirty="0">
              <a:latin typeface="Cambria Math" panose="02040503050406030204" pitchFamily="18" charset="0"/>
            </a:endParaRPr>
          </a:p>
          <a:p>
            <a:pPr algn="ctr">
              <a:spcAft>
                <a:spcPts val="1200"/>
              </a:spcAft>
            </a:pPr>
            <a:r>
              <a:rPr lang="en-GB" dirty="0">
                <a:solidFill>
                  <a:schemeClr val="tx1"/>
                </a:solidFill>
                <a:latin typeface="Cambria Math" panose="02040503050406030204" pitchFamily="18" charset="0"/>
              </a:rPr>
              <a:t>Want to swap priors without retraining?</a:t>
            </a:r>
            <a:endParaRPr lang="en-AU" dirty="0">
              <a:solidFill>
                <a:schemeClr val="tx1"/>
              </a:solidFill>
            </a:endParaRPr>
          </a:p>
          <a:p>
            <a:pPr algn="ctr"/>
            <a:endParaRPr lang="en-AU" dirty="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FB4DD57-B6A0-E58E-4F9B-1B8D173C21AB}"/>
              </a:ext>
            </a:extLst>
          </p:cNvPr>
          <p:cNvCxnSpPr>
            <a:cxnSpLocks/>
            <a:stCxn id="41" idx="2"/>
            <a:endCxn id="45" idx="0"/>
          </p:cNvCxnSpPr>
          <p:nvPr/>
        </p:nvCxnSpPr>
        <p:spPr>
          <a:xfrm>
            <a:off x="3784437" y="7962035"/>
            <a:ext cx="1924086" cy="4874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2E18C338-5FAF-1D64-1F3F-788F2916924D}"/>
              </a:ext>
            </a:extLst>
          </p:cNvPr>
          <p:cNvSpPr txBox="1"/>
          <p:nvPr/>
        </p:nvSpPr>
        <p:spPr>
          <a:xfrm>
            <a:off x="4911845" y="7982875"/>
            <a:ext cx="1391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No (Fastest)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A880F1F9-566D-DD12-D3D9-D3A7FDC7CB42}"/>
                  </a:ext>
                </a:extLst>
              </p:cNvPr>
              <p:cNvSpPr/>
              <p:nvPr/>
            </p:nvSpPr>
            <p:spPr>
              <a:xfrm>
                <a:off x="4175687" y="8449506"/>
                <a:ext cx="3065677" cy="1053583"/>
              </a:xfrm>
              <a:prstGeom prst="roundRect">
                <a:avLst/>
              </a:prstGeom>
              <a:solidFill>
                <a:srgbClr val="A7C95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Aft>
                    <a:spcPts val="1200"/>
                  </a:spcAft>
                </a:pPr>
                <a:endParaRPr lang="en-GB" i="1" dirty="0">
                  <a:latin typeface="Cambria Math" panose="02040503050406030204" pitchFamily="18" charset="0"/>
                </a:endParaRPr>
              </a:p>
              <a:p>
                <a:pPr algn="ctr">
                  <a:spcAft>
                    <a:spcPts val="1200"/>
                  </a:spcAft>
                </a:pPr>
                <a:r>
                  <a:rPr lang="en-GB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Use Neural Posterior Estimators (NPE)</a:t>
                </a:r>
              </a:p>
              <a:p>
                <a:pPr algn="ctr">
                  <a:spcAft>
                    <a:spcPts val="1200"/>
                  </a:spcAft>
                </a:pPr>
                <a:r>
                  <a:rPr lang="en-GB" sz="160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Learns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GB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GB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GB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GB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AU" sz="16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directly</a:t>
                </a:r>
              </a:p>
              <a:p>
                <a:pPr algn="ctr"/>
                <a:endParaRPr lang="en-AU" dirty="0"/>
              </a:p>
            </p:txBody>
          </p:sp>
        </mc:Choice>
        <mc:Fallback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A880F1F9-566D-DD12-D3D9-D3A7FDC7CB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5687" y="8449506"/>
                <a:ext cx="3065677" cy="1053583"/>
              </a:xfrm>
              <a:prstGeom prst="roundRect">
                <a:avLst/>
              </a:prstGeom>
              <a:blipFill>
                <a:blip r:embed="rId6"/>
                <a:stretch>
                  <a:fillRect t="-2273" b="-454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CF87E0F8-122B-3D0F-D23E-03BD326363C1}"/>
              </a:ext>
            </a:extLst>
          </p:cNvPr>
          <p:cNvSpPr/>
          <p:nvPr/>
        </p:nvSpPr>
        <p:spPr>
          <a:xfrm>
            <a:off x="224654" y="8466345"/>
            <a:ext cx="3065677" cy="825498"/>
          </a:xfrm>
          <a:prstGeom prst="roundRect">
            <a:avLst/>
          </a:prstGeom>
          <a:solidFill>
            <a:srgbClr val="F2E8C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</a:pPr>
            <a:endParaRPr lang="en-GB" i="1" dirty="0">
              <a:latin typeface="Cambria Math" panose="02040503050406030204" pitchFamily="18" charset="0"/>
            </a:endParaRPr>
          </a:p>
          <a:p>
            <a:pPr algn="ctr">
              <a:spcAft>
                <a:spcPts val="1200"/>
              </a:spcAft>
            </a:pPr>
            <a:r>
              <a:rPr lang="en-GB" dirty="0">
                <a:solidFill>
                  <a:schemeClr val="tx1"/>
                </a:solidFill>
                <a:latin typeface="Cambria Math" panose="02040503050406030204" pitchFamily="18" charset="0"/>
              </a:rPr>
              <a:t>Expect a multi-modal posterior?</a:t>
            </a:r>
            <a:endParaRPr lang="en-AU" sz="1600" i="1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ctr"/>
            <a:endParaRPr lang="en-AU" dirty="0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A9B89F5-150B-33BD-BF05-6F35EE6E7062}"/>
              </a:ext>
            </a:extLst>
          </p:cNvPr>
          <p:cNvCxnSpPr>
            <a:cxnSpLocks/>
            <a:stCxn id="41" idx="2"/>
            <a:endCxn id="55" idx="0"/>
          </p:cNvCxnSpPr>
          <p:nvPr/>
        </p:nvCxnSpPr>
        <p:spPr>
          <a:xfrm flipH="1">
            <a:off x="1757493" y="7962033"/>
            <a:ext cx="2026945" cy="5043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6EE72B57-215B-ED3A-02F9-C4DA073AACFF}"/>
              </a:ext>
            </a:extLst>
          </p:cNvPr>
          <p:cNvSpPr txBox="1"/>
          <p:nvPr/>
        </p:nvSpPr>
        <p:spPr>
          <a:xfrm>
            <a:off x="2034935" y="7962032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Yes</a:t>
            </a:r>
            <a:endParaRPr lang="en-AU" dirty="0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06676FD-F585-149D-742A-C1C4171B36ED}"/>
              </a:ext>
            </a:extLst>
          </p:cNvPr>
          <p:cNvCxnSpPr>
            <a:cxnSpLocks/>
          </p:cNvCxnSpPr>
          <p:nvPr/>
        </p:nvCxnSpPr>
        <p:spPr>
          <a:xfrm>
            <a:off x="1757491" y="9291843"/>
            <a:ext cx="0" cy="13298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E6353973-0AEC-BAA7-1B2A-299444370B1B}"/>
              </a:ext>
            </a:extLst>
          </p:cNvPr>
          <p:cNvCxnSpPr>
            <a:cxnSpLocks/>
            <a:stCxn id="55" idx="2"/>
            <a:endCxn id="67" idx="0"/>
          </p:cNvCxnSpPr>
          <p:nvPr/>
        </p:nvCxnSpPr>
        <p:spPr>
          <a:xfrm>
            <a:off x="1757492" y="9291844"/>
            <a:ext cx="3489988" cy="13452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7" name="Rectangle: Rounded Corners 66">
                <a:extLst>
                  <a:ext uri="{FF2B5EF4-FFF2-40B4-BE49-F238E27FC236}">
                    <a16:creationId xmlns:a16="http://schemas.microsoft.com/office/drawing/2014/main" id="{5B5AFD45-B245-C7B0-C405-F77CD79725CC}"/>
                  </a:ext>
                </a:extLst>
              </p:cNvPr>
              <p:cNvSpPr/>
              <p:nvPr/>
            </p:nvSpPr>
            <p:spPr>
              <a:xfrm>
                <a:off x="3623021" y="10637060"/>
                <a:ext cx="3248919" cy="1329810"/>
              </a:xfrm>
              <a:prstGeom prst="roundRect">
                <a:avLst/>
              </a:prstGeom>
              <a:solidFill>
                <a:srgbClr val="A7C95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Aft>
                    <a:spcPts val="1200"/>
                  </a:spcAft>
                </a:pPr>
                <a:endParaRPr lang="en-GB" i="1" dirty="0">
                  <a:latin typeface="Cambria Math" panose="02040503050406030204" pitchFamily="18" charset="0"/>
                </a:endParaRPr>
              </a:p>
              <a:p>
                <a:pPr algn="ctr">
                  <a:spcAft>
                    <a:spcPts val="1200"/>
                  </a:spcAft>
                </a:pPr>
                <a:r>
                  <a:rPr lang="en-GB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Use Neural Likelihood Estimators (NLE)</a:t>
                </a:r>
              </a:p>
              <a:p>
                <a:pPr algn="ctr">
                  <a:spcAft>
                    <a:spcPts val="1200"/>
                  </a:spcAft>
                </a:pPr>
                <a:r>
                  <a:rPr lang="en-GB" sz="160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Learns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GB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GB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GB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GB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16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needs MCMC for posterior</a:t>
                </a:r>
              </a:p>
              <a:p>
                <a:pPr algn="ctr"/>
                <a:endParaRPr lang="en-AU" dirty="0"/>
              </a:p>
            </p:txBody>
          </p:sp>
        </mc:Choice>
        <mc:Fallback>
          <p:sp>
            <p:nvSpPr>
              <p:cNvPr id="67" name="Rectangle: Rounded Corners 66">
                <a:extLst>
                  <a:ext uri="{FF2B5EF4-FFF2-40B4-BE49-F238E27FC236}">
                    <a16:creationId xmlns:a16="http://schemas.microsoft.com/office/drawing/2014/main" id="{5B5AFD45-B245-C7B0-C405-F77CD79725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3021" y="10637060"/>
                <a:ext cx="3248919" cy="1329810"/>
              </a:xfrm>
              <a:prstGeom prst="roundRect">
                <a:avLst/>
              </a:prstGeom>
              <a:blipFill>
                <a:blip r:embed="rId7"/>
                <a:stretch>
                  <a:fillRect t="-905" b="-271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TextBox 68">
            <a:extLst>
              <a:ext uri="{FF2B5EF4-FFF2-40B4-BE49-F238E27FC236}">
                <a16:creationId xmlns:a16="http://schemas.microsoft.com/office/drawing/2014/main" id="{982D31A5-4E21-BFD9-CC3C-B4DD8F445AEE}"/>
              </a:ext>
            </a:extLst>
          </p:cNvPr>
          <p:cNvSpPr txBox="1"/>
          <p:nvPr/>
        </p:nvSpPr>
        <p:spPr>
          <a:xfrm>
            <a:off x="4125574" y="982007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No</a:t>
            </a:r>
            <a:endParaRPr lang="en-AU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95832E5-8AF3-BA46-21D2-A0E45BD91A53}"/>
              </a:ext>
            </a:extLst>
          </p:cNvPr>
          <p:cNvSpPr txBox="1"/>
          <p:nvPr/>
        </p:nvSpPr>
        <p:spPr>
          <a:xfrm>
            <a:off x="1778400" y="9772082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Yes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Rectangle: Rounded Corners 70">
                <a:extLst>
                  <a:ext uri="{FF2B5EF4-FFF2-40B4-BE49-F238E27FC236}">
                    <a16:creationId xmlns:a16="http://schemas.microsoft.com/office/drawing/2014/main" id="{57CF88BC-6B33-CCFB-A124-99EAC3B4858C}"/>
                  </a:ext>
                </a:extLst>
              </p:cNvPr>
              <p:cNvSpPr/>
              <p:nvPr/>
            </p:nvSpPr>
            <p:spPr>
              <a:xfrm>
                <a:off x="196533" y="10621653"/>
                <a:ext cx="3248919" cy="1329810"/>
              </a:xfrm>
              <a:prstGeom prst="roundRect">
                <a:avLst/>
              </a:prstGeom>
              <a:solidFill>
                <a:srgbClr val="A7C95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Aft>
                    <a:spcPts val="1200"/>
                  </a:spcAft>
                </a:pPr>
                <a:endParaRPr lang="en-GB" i="1" dirty="0">
                  <a:latin typeface="Cambria Math" panose="02040503050406030204" pitchFamily="18" charset="0"/>
                </a:endParaRPr>
              </a:p>
              <a:p>
                <a:pPr algn="ctr">
                  <a:spcAft>
                    <a:spcPts val="1200"/>
                  </a:spcAft>
                </a:pPr>
                <a:r>
                  <a:rPr lang="en-GB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Use Neural Ratio Estimators (NRE)</a:t>
                </a:r>
              </a:p>
              <a:p>
                <a:pPr algn="ctr">
                  <a:spcAft>
                    <a:spcPts val="1200"/>
                  </a:spcAft>
                </a:pPr>
                <a:r>
                  <a:rPr lang="en-GB" sz="160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Learns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GB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GB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GB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GB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)/</m:t>
                    </m:r>
                    <m:r>
                      <m:rPr>
                        <m:sty m:val="p"/>
                      </m:rPr>
                      <a:rPr lang="en-GB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GB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GB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GB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16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needs MCMC for posterior</a:t>
                </a:r>
              </a:p>
              <a:p>
                <a:pPr algn="ctr"/>
                <a:endParaRPr lang="en-AU" dirty="0"/>
              </a:p>
            </p:txBody>
          </p:sp>
        </mc:Choice>
        <mc:Fallback>
          <p:sp>
            <p:nvSpPr>
              <p:cNvPr id="71" name="Rectangle: Rounded Corners 70">
                <a:extLst>
                  <a:ext uri="{FF2B5EF4-FFF2-40B4-BE49-F238E27FC236}">
                    <a16:creationId xmlns:a16="http://schemas.microsoft.com/office/drawing/2014/main" id="{57CF88BC-6B33-CCFB-A124-99EAC3B485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533" y="10621653"/>
                <a:ext cx="3248919" cy="1329810"/>
              </a:xfrm>
              <a:prstGeom prst="roundRect">
                <a:avLst/>
              </a:prstGeom>
              <a:blipFill>
                <a:blip r:embed="rId8"/>
                <a:stretch>
                  <a:fillRect t="-450" b="-22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22FC2524-9637-CD1B-A6F5-AC94F03A2808}"/>
              </a:ext>
            </a:extLst>
          </p:cNvPr>
          <p:cNvCxnSpPr>
            <a:cxnSpLocks/>
          </p:cNvCxnSpPr>
          <p:nvPr/>
        </p:nvCxnSpPr>
        <p:spPr>
          <a:xfrm>
            <a:off x="1778399" y="11951463"/>
            <a:ext cx="0" cy="857962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3C511492-189A-102D-115E-DF618786A770}"/>
              </a:ext>
            </a:extLst>
          </p:cNvPr>
          <p:cNvCxnSpPr>
            <a:cxnSpLocks/>
          </p:cNvCxnSpPr>
          <p:nvPr/>
        </p:nvCxnSpPr>
        <p:spPr>
          <a:xfrm>
            <a:off x="5114029" y="11966870"/>
            <a:ext cx="0" cy="857962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401A589E-3D08-1285-C8EE-82ADE585C6C3}"/>
              </a:ext>
            </a:extLst>
          </p:cNvPr>
          <p:cNvCxnSpPr>
            <a:cxnSpLocks/>
          </p:cNvCxnSpPr>
          <p:nvPr/>
        </p:nvCxnSpPr>
        <p:spPr>
          <a:xfrm>
            <a:off x="7015956" y="9503089"/>
            <a:ext cx="0" cy="3306337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8B37F9F5-4B99-BEB5-3F22-4B9A69887AD9}"/>
              </a:ext>
            </a:extLst>
          </p:cNvPr>
          <p:cNvSpPr/>
          <p:nvPr/>
        </p:nvSpPr>
        <p:spPr>
          <a:xfrm>
            <a:off x="629307" y="12809425"/>
            <a:ext cx="6411249" cy="825498"/>
          </a:xfrm>
          <a:prstGeom prst="roundRect">
            <a:avLst/>
          </a:prstGeom>
          <a:solidFill>
            <a:srgbClr val="F2E8C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</a:pPr>
            <a:endParaRPr lang="en-GB" i="1" dirty="0">
              <a:latin typeface="Cambria Math" panose="02040503050406030204" pitchFamily="18" charset="0"/>
            </a:endParaRPr>
          </a:p>
          <a:p>
            <a:pPr algn="ctr">
              <a:spcAft>
                <a:spcPts val="1200"/>
              </a:spcAft>
            </a:pPr>
            <a:r>
              <a:rPr lang="en-GB" dirty="0">
                <a:solidFill>
                  <a:schemeClr val="tx1"/>
                </a:solidFill>
                <a:latin typeface="Cambria Math" panose="02040503050406030204" pitchFamily="18" charset="0"/>
              </a:rPr>
              <a:t>Many observations to analyse?</a:t>
            </a:r>
            <a:endParaRPr lang="en-AU" sz="1600" i="1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ctr"/>
            <a:endParaRPr lang="en-AU" dirty="0"/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34718713-975B-A674-58EA-871C37B7BD44}"/>
              </a:ext>
            </a:extLst>
          </p:cNvPr>
          <p:cNvCxnSpPr>
            <a:cxnSpLocks/>
            <a:stCxn id="87" idx="2"/>
          </p:cNvCxnSpPr>
          <p:nvPr/>
        </p:nvCxnSpPr>
        <p:spPr>
          <a:xfrm flipH="1">
            <a:off x="2042221" y="13634923"/>
            <a:ext cx="1792711" cy="8579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74A65963-5EDB-2A46-2B1E-071C97BE192F}"/>
              </a:ext>
            </a:extLst>
          </p:cNvPr>
          <p:cNvCxnSpPr>
            <a:cxnSpLocks/>
            <a:stCxn id="87" idx="2"/>
          </p:cNvCxnSpPr>
          <p:nvPr/>
        </p:nvCxnSpPr>
        <p:spPr>
          <a:xfrm>
            <a:off x="3834932" y="13634923"/>
            <a:ext cx="1412547" cy="8425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6" name="Rectangle: Rounded Corners 95">
                <a:extLst>
                  <a:ext uri="{FF2B5EF4-FFF2-40B4-BE49-F238E27FC236}">
                    <a16:creationId xmlns:a16="http://schemas.microsoft.com/office/drawing/2014/main" id="{3A1DD537-9C01-1756-A91A-92C472C1A7A3}"/>
                  </a:ext>
                </a:extLst>
              </p:cNvPr>
              <p:cNvSpPr/>
              <p:nvPr/>
            </p:nvSpPr>
            <p:spPr>
              <a:xfrm>
                <a:off x="3940970" y="14492885"/>
                <a:ext cx="2930968" cy="1516941"/>
              </a:xfrm>
              <a:prstGeom prst="roundRect">
                <a:avLst/>
              </a:prstGeom>
              <a:solidFill>
                <a:srgbClr val="A7C95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Aft>
                    <a:spcPts val="1200"/>
                  </a:spcAft>
                </a:pPr>
                <a:endParaRPr lang="en-GB" i="1" dirty="0">
                  <a:latin typeface="Cambria Math" panose="02040503050406030204" pitchFamily="18" charset="0"/>
                </a:endParaRPr>
              </a:p>
              <a:p>
                <a:pPr algn="ctr">
                  <a:spcAft>
                    <a:spcPts val="1200"/>
                  </a:spcAft>
                </a:pPr>
                <a:endParaRPr lang="en-GB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>
                  <a:spcAft>
                    <a:spcPts val="1200"/>
                  </a:spcAft>
                </a:pPr>
                <a:r>
                  <a:rPr lang="en-GB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Sequential N[x]E</a:t>
                </a:r>
              </a:p>
              <a:p>
                <a:r>
                  <a:rPr lang="en-GB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Focus simulations near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GB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r>
                  <a:rPr lang="en-GB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Fewer Sims needed</a:t>
                </a:r>
              </a:p>
              <a:p>
                <a:r>
                  <a:rPr lang="en-GB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Not Reusable</a:t>
                </a:r>
              </a:p>
              <a:p>
                <a:pPr algn="ctr">
                  <a:spcAft>
                    <a:spcPts val="1200"/>
                  </a:spcAft>
                </a:pPr>
                <a:endParaRPr lang="en-GB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en-AU" dirty="0"/>
              </a:p>
            </p:txBody>
          </p:sp>
        </mc:Choice>
        <mc:Fallback>
          <p:sp>
            <p:nvSpPr>
              <p:cNvPr id="96" name="Rectangle: Rounded Corners 95">
                <a:extLst>
                  <a:ext uri="{FF2B5EF4-FFF2-40B4-BE49-F238E27FC236}">
                    <a16:creationId xmlns:a16="http://schemas.microsoft.com/office/drawing/2014/main" id="{3A1DD537-9C01-1756-A91A-92C472C1A7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0970" y="14492885"/>
                <a:ext cx="2930968" cy="1516941"/>
              </a:xfrm>
              <a:prstGeom prst="roundRect">
                <a:avLst/>
              </a:prstGeom>
              <a:blipFill>
                <a:blip r:embed="rId9"/>
                <a:stretch>
                  <a:fillRect b="-436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TextBox 96">
            <a:extLst>
              <a:ext uri="{FF2B5EF4-FFF2-40B4-BE49-F238E27FC236}">
                <a16:creationId xmlns:a16="http://schemas.microsoft.com/office/drawing/2014/main" id="{5DE64A41-48DA-4423-EF3E-22EA63DC8FF3}"/>
              </a:ext>
            </a:extLst>
          </p:cNvPr>
          <p:cNvSpPr txBox="1"/>
          <p:nvPr/>
        </p:nvSpPr>
        <p:spPr>
          <a:xfrm>
            <a:off x="4632323" y="1385812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No</a:t>
            </a:r>
            <a:endParaRPr lang="en-AU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32842E58-746A-9868-A4BE-C3DB950BF006}"/>
              </a:ext>
            </a:extLst>
          </p:cNvPr>
          <p:cNvSpPr txBox="1"/>
          <p:nvPr/>
        </p:nvSpPr>
        <p:spPr>
          <a:xfrm>
            <a:off x="1173678" y="13754496"/>
            <a:ext cx="1673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Yes / Real Time</a:t>
            </a:r>
            <a:endParaRPr lang="en-AU" dirty="0"/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3245E9FB-3B1B-2BA3-76D9-6BC714BFE481}"/>
              </a:ext>
            </a:extLst>
          </p:cNvPr>
          <p:cNvSpPr/>
          <p:nvPr/>
        </p:nvSpPr>
        <p:spPr>
          <a:xfrm>
            <a:off x="522063" y="14499330"/>
            <a:ext cx="2930968" cy="1516941"/>
          </a:xfrm>
          <a:prstGeom prst="roundRect">
            <a:avLst/>
          </a:prstGeom>
          <a:solidFill>
            <a:srgbClr val="A7C9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</a:pPr>
            <a:endParaRPr lang="en-GB" i="1" dirty="0">
              <a:latin typeface="Cambria Math" panose="02040503050406030204" pitchFamily="18" charset="0"/>
            </a:endParaRPr>
          </a:p>
          <a:p>
            <a:pPr algn="ctr">
              <a:spcAft>
                <a:spcPts val="1200"/>
              </a:spcAft>
            </a:pPr>
            <a:endParaRPr lang="en-GB" i="1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pPr algn="ctr">
              <a:spcAft>
                <a:spcPts val="1200"/>
              </a:spcAft>
            </a:pPr>
            <a:r>
              <a:rPr lang="en-GB" dirty="0">
                <a:solidFill>
                  <a:schemeClr val="tx1"/>
                </a:solidFill>
                <a:latin typeface="Cambria Math" panose="02040503050406030204" pitchFamily="18" charset="0"/>
              </a:rPr>
              <a:t>Amortised</a:t>
            </a:r>
          </a:p>
          <a:p>
            <a:r>
              <a:rPr lang="en-GB" i="1" dirty="0">
                <a:solidFill>
                  <a:schemeClr val="tx1"/>
                </a:solidFill>
                <a:latin typeface="Cambria Math" panose="02040503050406030204" pitchFamily="18" charset="0"/>
              </a:rPr>
              <a:t>Many more simulations</a:t>
            </a:r>
          </a:p>
          <a:p>
            <a:r>
              <a:rPr lang="en-GB" i="1" dirty="0">
                <a:solidFill>
                  <a:schemeClr val="tx1"/>
                </a:solidFill>
                <a:latin typeface="Cambria Math" panose="02040503050406030204" pitchFamily="18" charset="0"/>
              </a:rPr>
              <a:t>Train once for all data</a:t>
            </a:r>
          </a:p>
          <a:p>
            <a:r>
              <a:rPr lang="en-GB" i="1" dirty="0">
                <a:solidFill>
                  <a:schemeClr val="tx1"/>
                </a:solidFill>
                <a:latin typeface="Cambria Math" panose="02040503050406030204" pitchFamily="18" charset="0"/>
              </a:rPr>
              <a:t>Reusable</a:t>
            </a:r>
          </a:p>
          <a:p>
            <a:pPr algn="ctr">
              <a:spcAft>
                <a:spcPts val="1200"/>
              </a:spcAft>
            </a:pPr>
            <a:endParaRPr lang="en-GB" i="1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pPr algn="ctr"/>
            <a:endParaRPr lang="en-AU" dirty="0"/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74C1D106-9D7E-284C-532A-4C9636827D18}"/>
              </a:ext>
            </a:extLst>
          </p:cNvPr>
          <p:cNvCxnSpPr>
            <a:cxnSpLocks/>
          </p:cNvCxnSpPr>
          <p:nvPr/>
        </p:nvCxnSpPr>
        <p:spPr>
          <a:xfrm>
            <a:off x="1849937" y="16016270"/>
            <a:ext cx="0" cy="857962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A25E350A-2EDF-7838-73A4-AD50A9320123}"/>
              </a:ext>
            </a:extLst>
          </p:cNvPr>
          <p:cNvCxnSpPr>
            <a:cxnSpLocks/>
          </p:cNvCxnSpPr>
          <p:nvPr/>
        </p:nvCxnSpPr>
        <p:spPr>
          <a:xfrm>
            <a:off x="5320049" y="16016270"/>
            <a:ext cx="0" cy="857962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9FE00DB1-8E17-781B-1BF1-16CBCEF8526B}"/>
              </a:ext>
            </a:extLst>
          </p:cNvPr>
          <p:cNvSpPr/>
          <p:nvPr/>
        </p:nvSpPr>
        <p:spPr>
          <a:xfrm>
            <a:off x="522063" y="16880676"/>
            <a:ext cx="6518493" cy="825498"/>
          </a:xfrm>
          <a:prstGeom prst="roundRect">
            <a:avLst/>
          </a:prstGeom>
          <a:solidFill>
            <a:srgbClr val="F2E8C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</a:pPr>
            <a:endParaRPr lang="en-GB" i="1" dirty="0">
              <a:latin typeface="Cambria Math" panose="02040503050406030204" pitchFamily="18" charset="0"/>
            </a:endParaRPr>
          </a:p>
          <a:p>
            <a:pPr algn="ctr">
              <a:spcAft>
                <a:spcPts val="1200"/>
              </a:spcAft>
            </a:pPr>
            <a:r>
              <a:rPr lang="en-GB" dirty="0">
                <a:solidFill>
                  <a:schemeClr val="tx1"/>
                </a:solidFill>
                <a:latin typeface="Cambria Math" panose="02040503050406030204" pitchFamily="18" charset="0"/>
              </a:rPr>
              <a:t>Is dimensionality of your data high?</a:t>
            </a:r>
            <a:endParaRPr lang="en-AU" sz="1600" i="1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ctr"/>
            <a:endParaRPr lang="en-AU" dirty="0"/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3FABF875-0476-1D84-291A-0B4C3F4A56CE}"/>
              </a:ext>
            </a:extLst>
          </p:cNvPr>
          <p:cNvCxnSpPr>
            <a:cxnSpLocks/>
            <a:endCxn id="112" idx="0"/>
          </p:cNvCxnSpPr>
          <p:nvPr/>
        </p:nvCxnSpPr>
        <p:spPr>
          <a:xfrm>
            <a:off x="3800169" y="17706174"/>
            <a:ext cx="1807411" cy="8743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D1BA0344-63C5-0822-0B78-F373BBBF5EA1}"/>
              </a:ext>
            </a:extLst>
          </p:cNvPr>
          <p:cNvSpPr txBox="1"/>
          <p:nvPr/>
        </p:nvSpPr>
        <p:spPr>
          <a:xfrm>
            <a:off x="4362980" y="17758119"/>
            <a:ext cx="3722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 (less than ~50 data points)</a:t>
            </a:r>
            <a:endParaRPr lang="en-AU" dirty="0"/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56DB37C1-CDAD-DAD3-E86C-871C163903C8}"/>
              </a:ext>
            </a:extLst>
          </p:cNvPr>
          <p:cNvSpPr/>
          <p:nvPr/>
        </p:nvSpPr>
        <p:spPr>
          <a:xfrm>
            <a:off x="4142095" y="18580528"/>
            <a:ext cx="2930968" cy="369332"/>
          </a:xfrm>
          <a:prstGeom prst="roundRect">
            <a:avLst/>
          </a:prstGeom>
          <a:solidFill>
            <a:srgbClr val="A7C9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</a:pPr>
            <a:endParaRPr lang="en-GB" i="1" dirty="0">
              <a:latin typeface="Cambria Math" panose="02040503050406030204" pitchFamily="18" charset="0"/>
            </a:endParaRPr>
          </a:p>
          <a:p>
            <a:pPr algn="ctr">
              <a:spcAft>
                <a:spcPts val="1200"/>
              </a:spcAft>
            </a:pPr>
            <a:r>
              <a:rPr lang="en-GB" i="1" dirty="0">
                <a:solidFill>
                  <a:schemeClr val="tx1"/>
                </a:solidFill>
                <a:latin typeface="Cambria Math" panose="02040503050406030204" pitchFamily="18" charset="0"/>
              </a:rPr>
              <a:t>Use raw data</a:t>
            </a:r>
          </a:p>
          <a:p>
            <a:pPr algn="ctr"/>
            <a:endParaRPr lang="en-AU" dirty="0"/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8C70FEA3-2AA6-7051-0E35-DCFE56176B1E}"/>
              </a:ext>
            </a:extLst>
          </p:cNvPr>
          <p:cNvCxnSpPr>
            <a:cxnSpLocks/>
            <a:stCxn id="102" idx="2"/>
            <a:endCxn id="117" idx="0"/>
          </p:cNvCxnSpPr>
          <p:nvPr/>
        </p:nvCxnSpPr>
        <p:spPr>
          <a:xfrm flipH="1">
            <a:off x="2138678" y="17706174"/>
            <a:ext cx="1642632" cy="825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959F5C18-14A5-175C-C272-F6A46851293D}"/>
              </a:ext>
            </a:extLst>
          </p:cNvPr>
          <p:cNvSpPr/>
          <p:nvPr/>
        </p:nvSpPr>
        <p:spPr>
          <a:xfrm>
            <a:off x="477187" y="18531672"/>
            <a:ext cx="3322981" cy="1742179"/>
          </a:xfrm>
          <a:prstGeom prst="roundRect">
            <a:avLst/>
          </a:prstGeom>
          <a:solidFill>
            <a:srgbClr val="A7C9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</a:pPr>
            <a:endParaRPr lang="en-GB" i="1" dirty="0">
              <a:latin typeface="Cambria Math" panose="02040503050406030204" pitchFamily="18" charset="0"/>
            </a:endParaRPr>
          </a:p>
          <a:p>
            <a:pPr algn="ctr">
              <a:spcAft>
                <a:spcPts val="1200"/>
              </a:spcAft>
            </a:pPr>
            <a:r>
              <a:rPr lang="en-GB" i="1" dirty="0">
                <a:solidFill>
                  <a:schemeClr val="tx1"/>
                </a:solidFill>
                <a:latin typeface="Cambria Math" panose="02040503050406030204" pitchFamily="18" charset="0"/>
              </a:rPr>
              <a:t>Learn a low dimensionality representation of the data</a:t>
            </a:r>
          </a:p>
          <a:p>
            <a:pPr algn="ctr">
              <a:spcAft>
                <a:spcPts val="1200"/>
              </a:spcAft>
            </a:pPr>
            <a:r>
              <a:rPr lang="en-GB" i="1" dirty="0">
                <a:solidFill>
                  <a:schemeClr val="tx1"/>
                </a:solidFill>
                <a:latin typeface="Cambria Math" panose="02040503050406030204" pitchFamily="18" charset="0"/>
              </a:rPr>
              <a:t>Or</a:t>
            </a:r>
          </a:p>
          <a:p>
            <a:pPr algn="ctr">
              <a:spcAft>
                <a:spcPts val="1200"/>
              </a:spcAft>
            </a:pPr>
            <a:r>
              <a:rPr lang="en-GB" i="1" dirty="0">
                <a:solidFill>
                  <a:schemeClr val="tx1"/>
                </a:solidFill>
                <a:latin typeface="Cambria Math" panose="02040503050406030204" pitchFamily="18" charset="0"/>
              </a:rPr>
              <a:t>Hand craft summary statistics (period, etc)</a:t>
            </a:r>
          </a:p>
          <a:p>
            <a:pPr algn="ctr"/>
            <a:endParaRPr lang="en-AU" dirty="0"/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E4F40CFA-DC03-0CBC-478C-BA5559F743A1}"/>
              </a:ext>
            </a:extLst>
          </p:cNvPr>
          <p:cNvCxnSpPr>
            <a:cxnSpLocks/>
          </p:cNvCxnSpPr>
          <p:nvPr/>
        </p:nvCxnSpPr>
        <p:spPr>
          <a:xfrm>
            <a:off x="2042221" y="20273851"/>
            <a:ext cx="0" cy="496092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91BD035C-4DF1-5387-7815-53D60388722F}"/>
              </a:ext>
            </a:extLst>
          </p:cNvPr>
          <p:cNvCxnSpPr>
            <a:cxnSpLocks/>
          </p:cNvCxnSpPr>
          <p:nvPr/>
        </p:nvCxnSpPr>
        <p:spPr>
          <a:xfrm>
            <a:off x="5560216" y="18949860"/>
            <a:ext cx="0" cy="1820083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8F5C2AC9-19B6-CA5C-D07C-DFD238741B20}"/>
              </a:ext>
            </a:extLst>
          </p:cNvPr>
          <p:cNvSpPr/>
          <p:nvPr/>
        </p:nvSpPr>
        <p:spPr>
          <a:xfrm>
            <a:off x="954376" y="20807663"/>
            <a:ext cx="5650919" cy="825498"/>
          </a:xfrm>
          <a:prstGeom prst="roundRect">
            <a:avLst/>
          </a:prstGeom>
          <a:solidFill>
            <a:srgbClr val="F2E8C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</a:pPr>
            <a:endParaRPr lang="en-GB" i="1" dirty="0">
              <a:latin typeface="Cambria Math" panose="02040503050406030204" pitchFamily="18" charset="0"/>
            </a:endParaRPr>
          </a:p>
          <a:p>
            <a:pPr algn="ctr">
              <a:spcAft>
                <a:spcPts val="1200"/>
              </a:spcAft>
            </a:pPr>
            <a:r>
              <a:rPr lang="en-GB" dirty="0">
                <a:solidFill>
                  <a:schemeClr val="tx1"/>
                </a:solidFill>
                <a:latin typeface="Cambria Math" panose="02040503050406030204" pitchFamily="18" charset="0"/>
              </a:rPr>
              <a:t>Choose a network architecture</a:t>
            </a:r>
          </a:p>
          <a:p>
            <a:pPr algn="ctr">
              <a:spcAft>
                <a:spcPts val="1200"/>
              </a:spcAft>
            </a:pPr>
            <a:r>
              <a:rPr lang="en-GB" sz="14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 using NPE or NLE</a:t>
            </a:r>
            <a:endParaRPr lang="en-AU" sz="1200" i="1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ctr"/>
            <a:endParaRPr lang="en-AU" dirty="0"/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51E07F99-51F0-C6B0-71C8-E3D9C2DB6C9B}"/>
              </a:ext>
            </a:extLst>
          </p:cNvPr>
          <p:cNvCxnSpPr>
            <a:cxnSpLocks/>
          </p:cNvCxnSpPr>
          <p:nvPr/>
        </p:nvCxnSpPr>
        <p:spPr>
          <a:xfrm>
            <a:off x="1075680" y="22212531"/>
            <a:ext cx="0" cy="7807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F5131A51-7F07-2CC1-C097-F87F85AF2F20}"/>
              </a:ext>
            </a:extLst>
          </p:cNvPr>
          <p:cNvCxnSpPr/>
          <p:nvPr/>
        </p:nvCxnSpPr>
        <p:spPr>
          <a:xfrm flipV="1">
            <a:off x="1080141" y="21644996"/>
            <a:ext cx="0" cy="2171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DB5B0639-D823-FA5B-2F7B-981E299C8172}"/>
                  </a:ext>
                </a:extLst>
              </p:cNvPr>
              <p:cNvSpPr txBox="1"/>
              <p:nvPr/>
            </p:nvSpPr>
            <p:spPr>
              <a:xfrm>
                <a:off x="420188" y="21843199"/>
                <a:ext cx="13109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Simple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1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DB5B0639-D823-FA5B-2F7B-981E299C81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188" y="21843199"/>
                <a:ext cx="1310984" cy="369332"/>
              </a:xfrm>
              <a:prstGeom prst="rect">
                <a:avLst/>
              </a:prstGeom>
              <a:blipFill>
                <a:blip r:embed="rId10"/>
                <a:stretch>
                  <a:fillRect t="-11475" b="-213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C5215218-7FC5-5F54-791E-38E686C7598A}"/>
              </a:ext>
            </a:extLst>
          </p:cNvPr>
          <p:cNvCxnSpPr>
            <a:cxnSpLocks/>
          </p:cNvCxnSpPr>
          <p:nvPr/>
        </p:nvCxnSpPr>
        <p:spPr>
          <a:xfrm>
            <a:off x="2755644" y="22201584"/>
            <a:ext cx="0" cy="7807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6601E2E2-B249-2D60-8FDB-380C16182350}"/>
              </a:ext>
            </a:extLst>
          </p:cNvPr>
          <p:cNvCxnSpPr/>
          <p:nvPr/>
        </p:nvCxnSpPr>
        <p:spPr>
          <a:xfrm flipV="1">
            <a:off x="2760105" y="21634049"/>
            <a:ext cx="0" cy="2171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BDAE7737-251C-86AE-13ED-4AE838326A62}"/>
              </a:ext>
            </a:extLst>
          </p:cNvPr>
          <p:cNvSpPr txBox="1"/>
          <p:nvPr/>
        </p:nvSpPr>
        <p:spPr>
          <a:xfrm>
            <a:off x="2100152" y="21832252"/>
            <a:ext cx="1310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Cambria Math" panose="02040503050406030204" pitchFamily="18" charset="0"/>
                <a:ea typeface="Cambria Math" panose="02040503050406030204" pitchFamily="18" charset="0"/>
              </a:rPr>
              <a:t>Default</a:t>
            </a:r>
            <a:endParaRPr lang="en-AU" dirty="0"/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0E3134C5-B8CD-BD97-69BA-97662FCACDA9}"/>
              </a:ext>
            </a:extLst>
          </p:cNvPr>
          <p:cNvCxnSpPr>
            <a:cxnSpLocks/>
          </p:cNvCxnSpPr>
          <p:nvPr/>
        </p:nvCxnSpPr>
        <p:spPr>
          <a:xfrm>
            <a:off x="4537136" y="22201140"/>
            <a:ext cx="0" cy="7807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1EE5DE69-BF95-75AB-EC6D-0A8DBEC96324}"/>
              </a:ext>
            </a:extLst>
          </p:cNvPr>
          <p:cNvCxnSpPr/>
          <p:nvPr/>
        </p:nvCxnSpPr>
        <p:spPr>
          <a:xfrm flipV="1">
            <a:off x="4541597" y="21633605"/>
            <a:ext cx="0" cy="2171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35EF6662-8405-3BEC-6F9B-E8B3005A5747}"/>
              </a:ext>
            </a:extLst>
          </p:cNvPr>
          <p:cNvSpPr txBox="1"/>
          <p:nvPr/>
        </p:nvSpPr>
        <p:spPr>
          <a:xfrm>
            <a:off x="3675624" y="21850794"/>
            <a:ext cx="1744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Cambria Math" panose="02040503050406030204" pitchFamily="18" charset="0"/>
                <a:ea typeface="Cambria Math" panose="02040503050406030204" pitchFamily="18" charset="0"/>
              </a:rPr>
              <a:t>Max. Flexibility</a:t>
            </a:r>
            <a:endParaRPr lang="en-AU" dirty="0"/>
          </a:p>
        </p:txBody>
      </p: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C222F287-9643-0358-2F95-0B68D1AD1A01}"/>
              </a:ext>
            </a:extLst>
          </p:cNvPr>
          <p:cNvCxnSpPr>
            <a:cxnSpLocks/>
          </p:cNvCxnSpPr>
          <p:nvPr/>
        </p:nvCxnSpPr>
        <p:spPr>
          <a:xfrm>
            <a:off x="6303314" y="22212531"/>
            <a:ext cx="0" cy="7807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1702A0E4-2EF9-F98C-4B54-E49EFB96C551}"/>
              </a:ext>
            </a:extLst>
          </p:cNvPr>
          <p:cNvCxnSpPr/>
          <p:nvPr/>
        </p:nvCxnSpPr>
        <p:spPr>
          <a:xfrm flipV="1">
            <a:off x="6307775" y="21644996"/>
            <a:ext cx="0" cy="2171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66E6504D-1F07-902D-6309-58AF3619A8A2}"/>
                  </a:ext>
                </a:extLst>
              </p:cNvPr>
              <p:cNvSpPr txBox="1"/>
              <p:nvPr/>
            </p:nvSpPr>
            <p:spPr>
              <a:xfrm>
                <a:off x="5566070" y="21843199"/>
                <a:ext cx="14744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High dim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1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66E6504D-1F07-902D-6309-58AF3619A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6070" y="21843199"/>
                <a:ext cx="1474487" cy="369332"/>
              </a:xfrm>
              <a:prstGeom prst="rect">
                <a:avLst/>
              </a:prstGeom>
              <a:blipFill>
                <a:blip r:embed="rId11"/>
                <a:stretch>
                  <a:fillRect t="-11475" b="-213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" name="Rectangle: Rounded Corners 142">
            <a:extLst>
              <a:ext uri="{FF2B5EF4-FFF2-40B4-BE49-F238E27FC236}">
                <a16:creationId xmlns:a16="http://schemas.microsoft.com/office/drawing/2014/main" id="{8A0F706A-018B-07CF-6F2A-57CBFCDE2311}"/>
              </a:ext>
            </a:extLst>
          </p:cNvPr>
          <p:cNvSpPr/>
          <p:nvPr/>
        </p:nvSpPr>
        <p:spPr>
          <a:xfrm>
            <a:off x="369228" y="22981923"/>
            <a:ext cx="1310984" cy="1516941"/>
          </a:xfrm>
          <a:prstGeom prst="roundRect">
            <a:avLst/>
          </a:prstGeom>
          <a:solidFill>
            <a:srgbClr val="A7C9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</a:pPr>
            <a:endParaRPr lang="en-GB" i="1" dirty="0">
              <a:latin typeface="Cambria Math" panose="02040503050406030204" pitchFamily="18" charset="0"/>
            </a:endParaRPr>
          </a:p>
          <a:p>
            <a:pPr algn="ctr">
              <a:spcAft>
                <a:spcPts val="1200"/>
              </a:spcAft>
            </a:pPr>
            <a:endParaRPr lang="en-GB" i="1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pPr algn="ctr">
              <a:spcAft>
                <a:spcPts val="1200"/>
              </a:spcAft>
            </a:pPr>
            <a:r>
              <a:rPr lang="en-GB" dirty="0">
                <a:solidFill>
                  <a:schemeClr val="tx1"/>
                </a:solidFill>
                <a:latin typeface="Cambria Math" panose="02040503050406030204" pitchFamily="18" charset="0"/>
              </a:rPr>
              <a:t>MDN</a:t>
            </a:r>
          </a:p>
          <a:p>
            <a:pPr algn="ctr">
              <a:spcAft>
                <a:spcPts val="1200"/>
              </a:spcAft>
            </a:pPr>
            <a:r>
              <a:rPr lang="en-GB" dirty="0">
                <a:solidFill>
                  <a:schemeClr val="tx1"/>
                </a:solidFill>
                <a:latin typeface="Cambria Math" panose="02040503050406030204" pitchFamily="18" charset="0"/>
              </a:rPr>
              <a:t>Mixture Density Network</a:t>
            </a:r>
          </a:p>
          <a:p>
            <a:pPr algn="ctr">
              <a:spcAft>
                <a:spcPts val="1200"/>
              </a:spcAft>
            </a:pPr>
            <a:endParaRPr lang="en-GB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pPr algn="ctr"/>
            <a:endParaRPr lang="en-AU" dirty="0"/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C9A9CF57-01AB-9F9E-EB8A-A81CD2600E9D}"/>
              </a:ext>
            </a:extLst>
          </p:cNvPr>
          <p:cNvSpPr/>
          <p:nvPr/>
        </p:nvSpPr>
        <p:spPr>
          <a:xfrm>
            <a:off x="1877508" y="22981887"/>
            <a:ext cx="1829999" cy="2052748"/>
          </a:xfrm>
          <a:prstGeom prst="roundRect">
            <a:avLst/>
          </a:prstGeom>
          <a:solidFill>
            <a:srgbClr val="A7C9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</a:pPr>
            <a:endParaRPr lang="en-GB" i="1" dirty="0">
              <a:latin typeface="Cambria Math" panose="02040503050406030204" pitchFamily="18" charset="0"/>
            </a:endParaRPr>
          </a:p>
          <a:p>
            <a:pPr algn="ctr">
              <a:spcAft>
                <a:spcPts val="1200"/>
              </a:spcAft>
            </a:pPr>
            <a:endParaRPr lang="en-GB" i="1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pPr algn="ctr">
              <a:spcAft>
                <a:spcPts val="1200"/>
              </a:spcAft>
            </a:pPr>
            <a:r>
              <a:rPr lang="en-GB" dirty="0">
                <a:solidFill>
                  <a:schemeClr val="tx1"/>
                </a:solidFill>
                <a:latin typeface="Cambria Math" panose="02040503050406030204" pitchFamily="18" charset="0"/>
              </a:rPr>
              <a:t>Normalising Flows</a:t>
            </a:r>
          </a:p>
          <a:p>
            <a:pPr algn="ctr">
              <a:spcAft>
                <a:spcPts val="1200"/>
              </a:spcAft>
            </a:pPr>
            <a:r>
              <a:rPr lang="en-GB" dirty="0">
                <a:solidFill>
                  <a:schemeClr val="tx1"/>
                </a:solidFill>
                <a:latin typeface="Cambria Math" panose="02040503050406030204" pitchFamily="18" charset="0"/>
              </a:rPr>
              <a:t>e.g. Masked Autoregressive flow, Neural Spline Flow</a:t>
            </a:r>
          </a:p>
          <a:p>
            <a:pPr algn="ctr">
              <a:spcAft>
                <a:spcPts val="1200"/>
              </a:spcAft>
            </a:pPr>
            <a:endParaRPr lang="en-GB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pPr algn="ctr"/>
            <a:endParaRPr lang="en-AU" dirty="0"/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A0D6BA44-5046-ED88-443C-CAF6F1BC17A5}"/>
              </a:ext>
            </a:extLst>
          </p:cNvPr>
          <p:cNvSpPr/>
          <p:nvPr/>
        </p:nvSpPr>
        <p:spPr>
          <a:xfrm>
            <a:off x="3945733" y="22993314"/>
            <a:ext cx="1221774" cy="1028736"/>
          </a:xfrm>
          <a:prstGeom prst="roundRect">
            <a:avLst/>
          </a:prstGeom>
          <a:solidFill>
            <a:srgbClr val="A7C9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</a:pPr>
            <a:endParaRPr lang="en-GB" i="1" dirty="0">
              <a:latin typeface="Cambria Math" panose="02040503050406030204" pitchFamily="18" charset="0"/>
            </a:endParaRPr>
          </a:p>
          <a:p>
            <a:pPr algn="ctr">
              <a:spcAft>
                <a:spcPts val="1200"/>
              </a:spcAft>
            </a:pPr>
            <a:r>
              <a:rPr lang="en-GB" dirty="0">
                <a:solidFill>
                  <a:schemeClr val="tx1"/>
                </a:solidFill>
                <a:latin typeface="Cambria Math" panose="02040503050406030204" pitchFamily="18" charset="0"/>
              </a:rPr>
              <a:t>Flow Match</a:t>
            </a:r>
          </a:p>
          <a:p>
            <a:pPr algn="ctr"/>
            <a:endParaRPr lang="en-AU" dirty="0"/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7BF28145-A756-73F5-D870-6F11C32D8E09}"/>
              </a:ext>
            </a:extLst>
          </p:cNvPr>
          <p:cNvSpPr/>
          <p:nvPr/>
        </p:nvSpPr>
        <p:spPr>
          <a:xfrm>
            <a:off x="5468538" y="22993314"/>
            <a:ext cx="1604525" cy="1028736"/>
          </a:xfrm>
          <a:prstGeom prst="roundRect">
            <a:avLst/>
          </a:prstGeom>
          <a:solidFill>
            <a:srgbClr val="A7C9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</a:pPr>
            <a:endParaRPr lang="en-GB" i="1" dirty="0">
              <a:latin typeface="Cambria Math" panose="02040503050406030204" pitchFamily="18" charset="0"/>
            </a:endParaRPr>
          </a:p>
          <a:p>
            <a:pPr algn="ctr">
              <a:spcAft>
                <a:spcPts val="1200"/>
              </a:spcAft>
            </a:pPr>
            <a:r>
              <a:rPr lang="en-GB" dirty="0">
                <a:solidFill>
                  <a:schemeClr val="tx1"/>
                </a:solidFill>
                <a:latin typeface="Cambria Math" panose="02040503050406030204" pitchFamily="18" charset="0"/>
              </a:rPr>
              <a:t>Score-Based Diffusion </a:t>
            </a:r>
          </a:p>
          <a:p>
            <a:pPr algn="ctr"/>
            <a:endParaRPr lang="en-AU" dirty="0"/>
          </a:p>
        </p:txBody>
      </p: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9DDF0265-09D7-E2E7-E7C2-C17FEE771E1B}"/>
              </a:ext>
            </a:extLst>
          </p:cNvPr>
          <p:cNvCxnSpPr>
            <a:cxnSpLocks/>
          </p:cNvCxnSpPr>
          <p:nvPr/>
        </p:nvCxnSpPr>
        <p:spPr>
          <a:xfrm>
            <a:off x="1061935" y="24498864"/>
            <a:ext cx="0" cy="857962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202BB646-04EE-D222-B7CA-F94116B1D848}"/>
              </a:ext>
            </a:extLst>
          </p:cNvPr>
          <p:cNvCxnSpPr>
            <a:cxnSpLocks/>
          </p:cNvCxnSpPr>
          <p:nvPr/>
        </p:nvCxnSpPr>
        <p:spPr>
          <a:xfrm>
            <a:off x="4517031" y="24022050"/>
            <a:ext cx="0" cy="1334776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B05DBBAD-CF4F-3F75-B220-1500BA8A2EA5}"/>
              </a:ext>
            </a:extLst>
          </p:cNvPr>
          <p:cNvCxnSpPr>
            <a:cxnSpLocks/>
          </p:cNvCxnSpPr>
          <p:nvPr/>
        </p:nvCxnSpPr>
        <p:spPr>
          <a:xfrm>
            <a:off x="6303314" y="24022050"/>
            <a:ext cx="0" cy="1334776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0C49B151-CCA8-9F71-0026-07F1B161BBCD}"/>
              </a:ext>
            </a:extLst>
          </p:cNvPr>
          <p:cNvCxnSpPr>
            <a:cxnSpLocks/>
          </p:cNvCxnSpPr>
          <p:nvPr/>
        </p:nvCxnSpPr>
        <p:spPr>
          <a:xfrm>
            <a:off x="2755644" y="25034635"/>
            <a:ext cx="0" cy="322191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A2286037-2AD8-B28F-B2E4-81E3986C3C36}"/>
              </a:ext>
            </a:extLst>
          </p:cNvPr>
          <p:cNvSpPr/>
          <p:nvPr/>
        </p:nvSpPr>
        <p:spPr>
          <a:xfrm>
            <a:off x="677027" y="25356826"/>
            <a:ext cx="6363530" cy="672137"/>
          </a:xfrm>
          <a:prstGeom prst="roundRect">
            <a:avLst/>
          </a:prstGeom>
          <a:solidFill>
            <a:srgbClr val="BC47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MODEL VALIDATION</a:t>
            </a:r>
          </a:p>
          <a:p>
            <a:pPr algn="ctr"/>
            <a:r>
              <a:rPr lang="en-GB" sz="1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E.g. SBC Ranks, Coverage Tests, etc</a:t>
            </a:r>
            <a:endParaRPr lang="en-AU" sz="1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D6FC3158-6459-14A0-D377-BB0B21B65D9A}"/>
              </a:ext>
            </a:extLst>
          </p:cNvPr>
          <p:cNvSpPr/>
          <p:nvPr/>
        </p:nvSpPr>
        <p:spPr>
          <a:xfrm>
            <a:off x="133034" y="2830849"/>
            <a:ext cx="7296466" cy="429406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C5B08D90-5413-B93B-479F-85CF113C566E}"/>
              </a:ext>
            </a:extLst>
          </p:cNvPr>
          <p:cNvSpPr/>
          <p:nvPr/>
        </p:nvSpPr>
        <p:spPr>
          <a:xfrm>
            <a:off x="129381" y="7250883"/>
            <a:ext cx="7296466" cy="510168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EF54EC61-0117-9E73-5508-6D21967FFA1E}"/>
              </a:ext>
            </a:extLst>
          </p:cNvPr>
          <p:cNvSpPr/>
          <p:nvPr/>
        </p:nvSpPr>
        <p:spPr>
          <a:xfrm>
            <a:off x="129381" y="12496345"/>
            <a:ext cx="7296466" cy="411919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CFD57474-91DE-4921-708B-E4FD39681B8B}"/>
              </a:ext>
            </a:extLst>
          </p:cNvPr>
          <p:cNvSpPr/>
          <p:nvPr/>
        </p:nvSpPr>
        <p:spPr>
          <a:xfrm>
            <a:off x="129381" y="16748765"/>
            <a:ext cx="7296466" cy="386749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0F0D3467-4B15-3728-D1B8-30A9978C3537}"/>
              </a:ext>
            </a:extLst>
          </p:cNvPr>
          <p:cNvSpPr/>
          <p:nvPr/>
        </p:nvSpPr>
        <p:spPr>
          <a:xfrm>
            <a:off x="129381" y="25210974"/>
            <a:ext cx="7296466" cy="1172387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40851BD2-4136-3BF7-D55B-54527C3FEEAB}"/>
              </a:ext>
            </a:extLst>
          </p:cNvPr>
          <p:cNvSpPr/>
          <p:nvPr/>
        </p:nvSpPr>
        <p:spPr>
          <a:xfrm>
            <a:off x="129381" y="20752872"/>
            <a:ext cx="7296466" cy="435781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EF01E515-98E4-3F92-C30D-8308C872BB5F}"/>
              </a:ext>
            </a:extLst>
          </p:cNvPr>
          <p:cNvSpPr txBox="1"/>
          <p:nvPr/>
        </p:nvSpPr>
        <p:spPr>
          <a:xfrm>
            <a:off x="109722" y="2819305"/>
            <a:ext cx="538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0)</a:t>
            </a:r>
            <a:endParaRPr lang="en-AU" sz="24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3DBB4C34-95C6-F8BF-D404-65FAA8CD8BE3}"/>
              </a:ext>
            </a:extLst>
          </p:cNvPr>
          <p:cNvSpPr txBox="1"/>
          <p:nvPr/>
        </p:nvSpPr>
        <p:spPr>
          <a:xfrm>
            <a:off x="196533" y="7296617"/>
            <a:ext cx="538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1)</a:t>
            </a:r>
            <a:endParaRPr lang="en-AU" sz="24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0DE5591F-CDF4-E11A-774D-AD9A62237361}"/>
              </a:ext>
            </a:extLst>
          </p:cNvPr>
          <p:cNvSpPr txBox="1"/>
          <p:nvPr/>
        </p:nvSpPr>
        <p:spPr>
          <a:xfrm>
            <a:off x="145524" y="12495602"/>
            <a:ext cx="538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2)</a:t>
            </a:r>
            <a:endParaRPr lang="en-AU" sz="24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5B5C858F-0C48-48E0-50CB-54432B40421B}"/>
              </a:ext>
            </a:extLst>
          </p:cNvPr>
          <p:cNvSpPr txBox="1"/>
          <p:nvPr/>
        </p:nvSpPr>
        <p:spPr>
          <a:xfrm>
            <a:off x="90989" y="16760209"/>
            <a:ext cx="538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3)</a:t>
            </a:r>
            <a:endParaRPr lang="en-AU" sz="24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E6637ED5-797C-ADC3-F545-3DC3E5531CD2}"/>
              </a:ext>
            </a:extLst>
          </p:cNvPr>
          <p:cNvSpPr txBox="1"/>
          <p:nvPr/>
        </p:nvSpPr>
        <p:spPr>
          <a:xfrm>
            <a:off x="167212" y="20814463"/>
            <a:ext cx="538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4)</a:t>
            </a:r>
            <a:endParaRPr lang="en-AU" sz="24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8DCA59BE-E2F7-96ED-732E-ECC56B60D284}"/>
              </a:ext>
            </a:extLst>
          </p:cNvPr>
          <p:cNvSpPr txBox="1"/>
          <p:nvPr/>
        </p:nvSpPr>
        <p:spPr>
          <a:xfrm>
            <a:off x="110062" y="25195730"/>
            <a:ext cx="538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5)</a:t>
            </a:r>
            <a:endParaRPr lang="en-AU" sz="24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5C19F29C-980A-0C42-1F42-81BF8104D5C1}"/>
              </a:ext>
            </a:extLst>
          </p:cNvPr>
          <p:cNvSpPr txBox="1"/>
          <p:nvPr/>
        </p:nvSpPr>
        <p:spPr>
          <a:xfrm>
            <a:off x="90988" y="26548690"/>
            <a:ext cx="729646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0) </a:t>
            </a:r>
            <a:r>
              <a:rPr lang="en-GB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Is Simulation-based Inference the right tool?</a:t>
            </a:r>
          </a:p>
          <a:p>
            <a:r>
              <a:rPr lang="en-GB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1) </a:t>
            </a:r>
            <a:r>
              <a:rPr lang="en-GB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What type of estimator should you choose?</a:t>
            </a:r>
          </a:p>
          <a:p>
            <a:r>
              <a:rPr lang="en-GB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2)</a:t>
            </a:r>
            <a:r>
              <a:rPr lang="en-GB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Choose either sequential or non-sequential models</a:t>
            </a:r>
          </a:p>
          <a:p>
            <a:r>
              <a:rPr lang="en-GB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3)</a:t>
            </a:r>
            <a:r>
              <a:rPr lang="en-GB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Should you compress your data?</a:t>
            </a:r>
          </a:p>
          <a:p>
            <a:r>
              <a:rPr lang="en-GB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4) </a:t>
            </a:r>
            <a:r>
              <a:rPr lang="en-GB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What architecture should you choose?</a:t>
            </a:r>
          </a:p>
          <a:p>
            <a:r>
              <a:rPr lang="en-GB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5) </a:t>
            </a:r>
            <a:r>
              <a:rPr lang="en-GB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Validate your model!</a:t>
            </a:r>
            <a:endParaRPr lang="en-GB" sz="24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GB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endParaRPr lang="en-AU" sz="24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5254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2729</TotalTime>
  <Words>327</Words>
  <Application>Microsoft Office PowerPoint</Application>
  <PresentationFormat>Custom</PresentationFormat>
  <Paragraphs>94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Conaire Deagan</dc:creator>
  <cp:lastModifiedBy>Conaire Deagan</cp:lastModifiedBy>
  <cp:revision>1</cp:revision>
  <dcterms:created xsi:type="dcterms:W3CDTF">2026-04-13T00:57:07Z</dcterms:created>
  <dcterms:modified xsi:type="dcterms:W3CDTF">2026-04-14T22:26:12Z</dcterms:modified>
</cp:coreProperties>
</file>